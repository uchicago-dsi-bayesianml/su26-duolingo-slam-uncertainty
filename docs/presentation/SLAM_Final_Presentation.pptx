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Two-person project. One sentence framing: adaptive tutors must decide not just whether a learner will err, but when to trust that prediction. We built a Bayesian pipeline that outputs calibrated probabilities and an explicit route-to-human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dataset is public (Harvard Dataverse) and the shared-task benchmark exists (AUROC ~0.86 for top 2018 systems with heavy engineering). Errors are the minority class, so we report AUROC and calibration, never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Division of labor: Richard — data engineering, scale, baselines, validation protocol. Shane — Bayesian modeling and SLA interpretation. Tools: PyMC/NumPyro, ArviZ, hmmlearn,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ELPD numbers from the LOO comparison (run_summary.json). If asked about the gap to 0.86: those systems used massive feature engineering and ensembling without uncertainty; our extended ladder (slide 8) closes much of the gap while staying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strength, not a weakness: we predefined a confirmation gate and it correctly failed. Foreshadow slide 8: a continuous dynamic-ability signal DOES pass the same gate — the dynamics are real, the discreteness was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recipe: deploying on a new course needs only a cheap group-intercept recalibration on a small slice of target data, not a full refit. fr_en and es_en share the same L1-English population (only 2 shared users) yet still show the gap — it's about the course, not the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quantitative version of Prof. Gundogdu's 'languages as points in a latent space' remark from our topic-selection email — a publishable-flavored SLA finding. Cosine baseline is ~-0.5 because three deviation blocks approximately sum to zero under shrinkage.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extensions are MAP estimates of hierarchical priors and port directly to PyMC (item difficulties = item-level random effects; slopes = LKJ-correlated random effects). Every rung is significant under a learner-clustered bootstrap; the ladder replicates on all three language tracks.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deployment story: the tutor handles the easy half provably safely and routes the rest for review. Conformal is assumption-free, so it protects against miscalibration of the posterior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publication angle: the instructor flagged this topic as publishable; the latent-space finding plus the IRT ladder is the core of that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 Modeling of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Second-Language Acquisition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EC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tutor that knows when it doesn't know.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Dunkle  ·  Richard Pollitt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ADSP 32014 — Bayesian Machine Learning with Generative AI Applications  ·  Summer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SLAM 2018  ·  Bayes nets · hierarchical models · HMMs · MCMC · uncertainty &amp; decision theory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error prediction that admits what it doesn't know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SLAM 2018 — public corpus of learner exercise responses over each learner's first 30 days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37960" y="1554480"/>
            <a:ext cx="5029200" cy="1024128"/>
          </a:xfrm>
          <a:prstGeom prst="roundRect">
            <a:avLst>
              <a:gd name="adj" fmla="val 7143"/>
            </a:avLst>
          </a:prstGeom>
          <a:solidFill>
            <a:srgbClr val="EEF4FC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0" y="162763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0" y="16276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tokens across three courses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37960" y="2761488"/>
            <a:ext cx="5029200" cy="1024128"/>
          </a:xfrm>
          <a:prstGeom prst="roundRect">
            <a:avLst>
              <a:gd name="adj" fmla="val 7143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283464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412480" y="2834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(es_en, fr_en, en_es tracks)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3968496"/>
            <a:ext cx="5029200" cy="1024128"/>
          </a:xfrm>
          <a:prstGeom prst="roundRect">
            <a:avLst>
              <a:gd name="adj" fmla="val 7143"/>
            </a:avLst>
          </a:prstGeom>
          <a:solidFill>
            <a:srgbClr val="FDF1EC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404164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12480" y="40416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tokens are errors — the minority class we predict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5175504"/>
            <a:ext cx="5029200" cy="1024128"/>
          </a:xfrm>
          <a:prstGeom prst="roundRect">
            <a:avLst>
              <a:gd name="adj" fmla="val 7143"/>
            </a:avLst>
          </a:prstGeom>
          <a:solidFill>
            <a:srgbClr val="EE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5248656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524865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learner; dev/test are later in time than train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1600200"/>
            <a:ext cx="56235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predictions aren't enough.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classifier outputs one probability and hides its own uncertainty. An adaptive tutor acting on a wrong, confident prediction wastes learner time — or worse, misdiagnoses them.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reframing: Bayesian inference under uncertainty.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per-token error probability with calibrated uncertainty, decompose why the model is unsure (inherent difficulty vs. not enough data), and let a decision layer abstain and route to a human when confidence is low.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features per token: learner, L1/country, days-in-course, exercise format, session type, response time, POS, morphology, dependency structure.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coupled Bayesian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maps directly onto the course syllabus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Bayesian error model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logistic regression with partial pooling: learners nested within L1 groups and skill/format types. Sparse learners borrow strength; group effects expose L1 transfer and difficulty.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nets · hierarchical models · MCMC (NUTS) · ADVI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acquisition stages (HMM)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Per-learner Hidden Markov Model over the 30-day timeline: latent states as acquisition stages (unlearned → learning → acquired), tested for predictive value under forward validation.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models · HMMs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920240"/>
            <a:ext cx="502920" cy="50292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2606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&amp; routing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412480" y="33832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Aleatoric vs. epistemic decomposition from hierarchical posterior draws; a Bayesian utility layer abstains and routes to a human when uncertainty is high. Evaluated with risk–coverage curves.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theory · Bayesian deep learning ideas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predictive model: the hierarchical Bayesian logistic regression (A). B became a descriptive model; C became the deployment story.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hierarchical model earns its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Native-fit performance on the official development 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EEF4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— es_en (English speakers learning Spanish)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— fr_en (learning French)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EEF4FC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1248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— en_es (learning English)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6949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pooling wins decisively over the pooled baseline.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ELPD improvement +2,158 ± 77 (PSIS-LOO) — about 28 standard errors. Calibration is strong: ECE 0.014 vs 0.020 pooled, with better Brier and NLL across the board.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by construction.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posteriors expose which exercise formats are hard, which skills trip up which learner populations, and how much individual learners deviate — the SLA story falls straight out of the model's parameters.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0" y="352044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37033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points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non-Bayesian logistic baseline: AUROC 0.814 (heavier feature set)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shared-task top systems: ≈ 0.86 with extensive engineering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calibrated uncertainty + interpretability at competitive discrimination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negative result: acquisition stages don't add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Three-state HMM per learner — interpretable, but gated out by forward validation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2FAF6"/>
          </a:solidFill>
          <a:ln w="12700">
            <a:solidFill>
              <a:srgbClr val="D5ED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E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HMM found ✓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unlearned → learning → acquired states over each learner's 30-day timeline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transitions track known difficulty and pacing patterns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the report as a descriptive latent-learning model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69164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DF1EC"/>
          </a:solidFill>
          <a:ln w="12700">
            <a:solidFill>
              <a:srgbClr val="F2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9202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44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didn't ✗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Ungated hybrid significantly worsened NLL (+0.00055, 95% CI [+0.00018, +0.00092]) and Brier — in all four forward folds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Entropy-gated hybrid statistically indistinguishable from the logistic baseline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dev-set 'gain' was selection optimism — exactly what the gate exists to catch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learner state matters, but it drifts continuously rather than jumping between discrete stages — not every interpretable Bayesian structure needs to improve prediction.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Cross-course transfer: the gap is real — and diagnosable</a:t>
            </a:r>
            <a:endParaRPr lang="en-US" sz="3000" dirty="0"/>
          </a:p>
        </p:txBody>
      </p:sp>
      <p:pic>
        <p:nvPicPr>
          <p:cNvPr id="3" name="Image 0" descr="fig1_transfer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577840" cy="4297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46520" y="1691640"/>
            <a:ext cx="52120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is reproducible.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Learner-clustered bootstrap on the model's own posterior draws: transfer AUROC 0.732, 95% CI [0.727, 0.737] — native 0.755 sits far outside. Refit variance is 5× smaller than the gap.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is not.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source transfers worst (fr_en vs en_es) lies within sampling noise — we report the penalty, not a ranking.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concept shift, not covariate shift.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Importance-weighting the source data toward the target feature distribution makes transfer worse. Refitting only group-level intercepts on ~10% of target learners recovers most native performance: the difficulty map shifts, the model structure transfers.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geometry follows the language contrast, not the learner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model over all three tracks: global effects + shrunk per-track deviations (partial pooling across courses)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703320" y="3154680"/>
            <a:ext cx="1371600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828800" y="3383280"/>
            <a:ext cx="1051560" cy="1325880"/>
          </a:xfrm>
          <a:prstGeom prst="line">
            <a:avLst/>
          </a:prstGeom>
          <a:noFill/>
          <a:ln w="19050">
            <a:solidFill>
              <a:srgbClr val="E3C4B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108960" y="4800600"/>
            <a:ext cx="1554480" cy="-1371600"/>
          </a:xfrm>
          <a:prstGeom prst="line">
            <a:avLst/>
          </a:prstGeom>
          <a:noFill/>
          <a:ln w="19050">
            <a:solidFill>
              <a:srgbClr val="E3C4B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2697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788920"/>
            <a:ext cx="1005840" cy="1005840"/>
          </a:xfrm>
          <a:prstGeom prst="ellipse">
            <a:avLst/>
          </a:prstGeom>
          <a:solidFill>
            <a:srgbClr val="1BAF7A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en_es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4434840"/>
            <a:ext cx="1005840" cy="100584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pair: cosine −0.18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(chance ≈ −0.5)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5577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fr_en: the outlier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deviation norm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Deviation-space similarity (schematic)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52578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pair clusters.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es_en and en_es — the same Spanish↔English contrast seen from opposite banks — are by far the closest tracks in deviation space (cosine −0.18 vs a −0.5 chance baseline), with session and pacing effects strongly positively aligned (+0.83, +0.53).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learners don't cluster.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fr_en and es_en share the same L1-English learner population, yet sit at chance-level similarity (−0.51). What transfers is the structure of the language contrast, not the population.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Wrong-track adaptation is worse than none.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another course's deviation block underperforms the global model — track deviations carry real, course-specific signal.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remaining signal lives: an item-response ladder</a:t>
            </a:r>
            <a:endParaRPr lang="en-US" sz="3000" dirty="0"/>
          </a:p>
        </p:txBody>
      </p:sp>
      <p:pic>
        <p:nvPicPr>
          <p:cNvPr id="3" name="Image 0" descr="fig3_model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4008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78040" y="1645920"/>
            <a:ext cx="4480560" cy="1783080"/>
          </a:xfrm>
          <a:prstGeom prst="roundRect">
            <a:avLst>
              <a:gd name="adj" fmla="val 5128"/>
            </a:avLst>
          </a:prstGeom>
          <a:solidFill>
            <a:srgbClr val="EEF4FC"/>
          </a:solidFill>
          <a:ln/>
        </p:spPr>
      </p:sp>
      <p:sp>
        <p:nvSpPr>
          <p:cNvPr id="5" name="Text 2"/>
          <p:cNvSpPr/>
          <p:nvPr/>
        </p:nvSpPr>
        <p:spPr>
          <a:xfrm>
            <a:off x="7406640" y="17830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 AUROC</a:t>
            </a:r>
            <a:endParaRPr lang="en-US" sz="2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word-level item difficulty alone (Bayesian IRT view: ability − difficulty). The dominant gain on every track — 4× any other addition.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178040" y="365760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the same forward-validation gate the HMM failed: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IRT: +0.036 AUROC, −0.017 NLL — better in every out-of-time fold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ladder (+ dynamic ability, memory/HLR, learner×format slopes): +0.059 AUROC, −0.030 NLL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ability drift passes where discrete stages failed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interpretable GLM matches or beats gradient-boosted trees on the same features — nonlinearity buys no consistent gain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its limits — with a guarantee</a:t>
            </a:r>
            <a:endParaRPr lang="en-US" sz="3000" dirty="0"/>
          </a:p>
        </p:txBody>
      </p:sp>
      <p:pic>
        <p:nvPicPr>
          <p:cNvPr id="3" name="Image 0" descr="fig2_risk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6309360" cy="4343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1737360"/>
            <a:ext cx="4526280" cy="1188720"/>
          </a:xfrm>
          <a:prstGeom prst="roundRect">
            <a:avLst>
              <a:gd name="adj" fmla="val 6923"/>
            </a:avLst>
          </a:prstGeom>
          <a:solidFill>
            <a:srgbClr val="EEF4FC"/>
          </a:solidFill>
          <a:ln/>
        </p:spPr>
      </p:sp>
      <p:sp>
        <p:nvSpPr>
          <p:cNvPr id="5" name="Text 2"/>
          <p:cNvSpPr/>
          <p:nvPr/>
        </p:nvSpPr>
        <p:spPr>
          <a:xfrm>
            <a:off x="7360920" y="18288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778240" y="18288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tokens auto-handled at a 5% error budget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132320" y="3108960"/>
            <a:ext cx="4526280" cy="1188720"/>
          </a:xfrm>
          <a:prstGeom prst="roundRect">
            <a:avLst>
              <a:gd name="adj" fmla="val 6923"/>
            </a:avLst>
          </a:prstGeom>
          <a:solidFill>
            <a:srgbClr val="EEF4FC"/>
          </a:solidFill>
          <a:ln/>
        </p:spPr>
      </p:sp>
      <p:sp>
        <p:nvSpPr>
          <p:cNvPr id="8" name="Text 5"/>
          <p:cNvSpPr/>
          <p:nvPr/>
        </p:nvSpPr>
        <p:spPr>
          <a:xfrm>
            <a:off x="7360920" y="320040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78240" y="32004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auto-handled at a 10% error budget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0" y="4617720"/>
            <a:ext cx="4526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of trust: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utility layer picks the routing threshold from posterior uncertainty (aleatoric vs. epistemic — epistemic rises 4.6× under cross-course shift, flagging exactly where to defer)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Split-conformal layer adds a distribution-free, finite-sample guarantee on the error rate among auto-handled tokens — it held within 0.3pp on held-out learners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5087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+ item difficulty is the model.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pooling wins decisively, and an IRT reading (ability − difficulty) captures the dominant remaining signal on every language track.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355080" y="155448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95160" y="15087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are results.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acquisition stages are interpretable but add no forward-validated prediction; continuous ability drift does. The predefined gate caught the difference.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4747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gaps are concept shift.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difficulty map changes across courses — and follows the language contrast, not the learner population. A cheap group-level recalibration mostly erases it.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355080" y="3520440"/>
            <a:ext cx="457200" cy="457200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34747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is the product.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9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posteriors + conformal guarantees turn a classifier into a tutor that provably knows when to hand off to a human.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C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dynamic IRT (state-space ability), full PyMC port of item effects and correlated slopes, half-life forgetting models — and a write-up beyond the course.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Shane Dunkle · Richard Pollitt —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2026-08-13T05:01:20Z</dcterms:created>
  <dcterms:modified xsi:type="dcterms:W3CDTF">2026-08-13T05:01:20Z</dcterms:modified>
</cp:coreProperties>
</file>